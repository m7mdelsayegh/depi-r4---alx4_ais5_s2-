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67" r:id="rId5"/>
    <p:sldId id="268" r:id="rId6"/>
    <p:sldId id="258" r:id="rId7"/>
    <p:sldId id="259" r:id="rId8"/>
    <p:sldId id="260" r:id="rId9"/>
    <p:sldId id="262" r:id="rId10"/>
    <p:sldId id="266" r:id="rId11"/>
    <p:sldId id="269" r:id="rId12"/>
    <p:sldId id="263" r:id="rId13"/>
    <p:sldId id="264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A3A3-D0D3-1060-9146-D20E2D143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DEPI R4 Trainers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87994-2F95-2D31-69BA-7C7A8B4F7E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Welcome Superior Trainers</a:t>
            </a:r>
          </a:p>
        </p:txBody>
      </p:sp>
    </p:spTree>
    <p:extLst>
      <p:ext uri="{BB962C8B-B14F-4D97-AF65-F5344CB8AC3E}">
        <p14:creationId xmlns:p14="http://schemas.microsoft.com/office/powerpoint/2010/main" val="106717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DEPI Track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📅 Duration: 24 Weeks</a:t>
            </a:r>
          </a:p>
          <a:p>
            <a:r>
              <a:rPr dirty="0"/>
              <a:t>📊 Total Technical Sessions: 39</a:t>
            </a:r>
            <a:r>
              <a:rPr lang="en-US" dirty="0"/>
              <a:t> </a:t>
            </a:r>
            <a:r>
              <a:rPr lang="en-US" dirty="0">
                <a:highlight>
                  <a:srgbClr val="00FFFF"/>
                </a:highlight>
              </a:rPr>
              <a:t>(38 + 1 Session for Project Discussion)</a:t>
            </a:r>
            <a:endParaRPr dirty="0">
              <a:highlight>
                <a:srgbClr val="00FFFF"/>
              </a:highlight>
            </a:endParaRPr>
          </a:p>
          <a:p>
            <a:r>
              <a:rPr dirty="0"/>
              <a:t>📌 Session Duration: 3 Hours</a:t>
            </a:r>
          </a:p>
          <a:p>
            <a:r>
              <a:rPr dirty="0"/>
              <a:t>🛠 Platforms: Microsoft Teams &amp; Custom LMS</a:t>
            </a:r>
          </a:p>
          <a:p>
            <a:r>
              <a:rPr dirty="0"/>
              <a:t>🧠 Tracks: Technical, Freelancing Skills, Soft Skills, English, Coaching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🎥 Conducted via Microsoft Teams</a:t>
            </a:r>
          </a:p>
          <a:p>
            <a:r>
              <a:rPr dirty="0"/>
              <a:t>🕒 Duration: 3 Hours (each session)</a:t>
            </a:r>
          </a:p>
          <a:p>
            <a:r>
              <a:rPr dirty="0"/>
              <a:t>☕ Break: 10-15 Minutes</a:t>
            </a:r>
          </a:p>
          <a:p>
            <a:r>
              <a:rPr dirty="0"/>
              <a:t>📸 Camera Required with DEPI Background</a:t>
            </a:r>
          </a:p>
          <a:p>
            <a:r>
              <a:rPr dirty="0"/>
              <a:t>📝 Includes: Tasks &amp; Quizzes (at least 5 MCQs or tasks if applicable)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7FC1-A2AE-7F96-D61C-F8354ABF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Standards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27E5-06E7-0787-1BD9-24537D686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Ensure the quality and stability of the </a:t>
            </a:r>
            <a:r>
              <a:rPr lang="en-US" b="1" dirty="0">
                <a:solidFill>
                  <a:srgbClr val="00B0F0"/>
                </a:solidFill>
              </a:rPr>
              <a:t>internet connection </a:t>
            </a:r>
            <a:r>
              <a:rPr lang="en-US" dirty="0"/>
              <a:t>before and during each session.</a:t>
            </a:r>
          </a:p>
          <a:p>
            <a:r>
              <a:rPr lang="en-US" b="1" dirty="0">
                <a:solidFill>
                  <a:srgbClr val="00B0F0"/>
                </a:solidFill>
              </a:rPr>
              <a:t>Use the camera </a:t>
            </a:r>
            <a:r>
              <a:rPr lang="en-US" dirty="0"/>
              <a:t>with the official MCIT-branded virtual background.</a:t>
            </a:r>
          </a:p>
          <a:p>
            <a:r>
              <a:rPr lang="en-US" dirty="0"/>
              <a:t>Adhere strictly to the </a:t>
            </a:r>
            <a:r>
              <a:rPr lang="en-US" dirty="0">
                <a:solidFill>
                  <a:srgbClr val="00B0F0"/>
                </a:solidFill>
              </a:rPr>
              <a:t>content of </a:t>
            </a:r>
            <a:r>
              <a:rPr lang="en-US" b="1" dirty="0">
                <a:solidFill>
                  <a:srgbClr val="00B0F0"/>
                </a:solidFill>
              </a:rPr>
              <a:t>each lecture as outlined in the material </a:t>
            </a:r>
            <a:r>
              <a:rPr lang="en-US" dirty="0"/>
              <a:t>links provided to you. (Content is verified through multiple sources: student feedback, instructor delivery, and review of the recorded sessions.)</a:t>
            </a:r>
          </a:p>
          <a:p>
            <a:r>
              <a:rPr lang="en-US" dirty="0"/>
              <a:t>Each lecture must include a </a:t>
            </a:r>
            <a:r>
              <a:rPr lang="en-US" b="1" dirty="0">
                <a:solidFill>
                  <a:srgbClr val="00B0F0"/>
                </a:solidFill>
              </a:rPr>
              <a:t>task or quiz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for students, consisting of </a:t>
            </a:r>
            <a:r>
              <a:rPr lang="en-US" b="1" dirty="0"/>
              <a:t>at least five multiple-choice questions</a:t>
            </a:r>
            <a:r>
              <a:rPr lang="en-US" dirty="0"/>
              <a:t>.</a:t>
            </a:r>
          </a:p>
          <a:p>
            <a:r>
              <a:rPr lang="en-US" dirty="0"/>
              <a:t>Convert the lecture presentation into </a:t>
            </a:r>
            <a:r>
              <a:rPr lang="en-US" b="1" dirty="0"/>
              <a:t>PDF format</a:t>
            </a:r>
            <a:r>
              <a:rPr lang="en-US" dirty="0"/>
              <a:t> and </a:t>
            </a:r>
            <a:r>
              <a:rPr lang="en-US" b="1" dirty="0">
                <a:solidFill>
                  <a:srgbClr val="00B0F0"/>
                </a:solidFill>
              </a:rPr>
              <a:t>upload</a:t>
            </a:r>
            <a:r>
              <a:rPr lang="en-US" dirty="0"/>
              <a:t> it to </a:t>
            </a:r>
            <a:r>
              <a:rPr lang="en-US" b="1" dirty="0"/>
              <a:t>Microsoft Teams or the LMS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LMS</a:t>
            </a:r>
            <a:r>
              <a:rPr lang="en-US" dirty="0"/>
              <a:t> is the platform used for uploading tasks, tracking attendance, and monitoring student performance.</a:t>
            </a:r>
          </a:p>
          <a:p>
            <a:r>
              <a:rPr lang="en-US" dirty="0"/>
              <a:t>The </a:t>
            </a:r>
            <a:r>
              <a:rPr lang="en-US" b="1" dirty="0"/>
              <a:t>instructor</a:t>
            </a:r>
            <a:r>
              <a:rPr lang="en-US" dirty="0"/>
              <a:t> </a:t>
            </a:r>
            <a:r>
              <a:rPr lang="en-US" b="1" dirty="0"/>
              <a:t>should nominate a few students </a:t>
            </a:r>
            <a:r>
              <a:rPr lang="en-US" dirty="0"/>
              <a:t>as </a:t>
            </a:r>
            <a:r>
              <a:rPr lang="en-US" dirty="0">
                <a:solidFill>
                  <a:srgbClr val="00B0F0"/>
                </a:solidFill>
              </a:rPr>
              <a:t>potential </a:t>
            </a:r>
            <a:r>
              <a:rPr lang="en-US" b="1" dirty="0">
                <a:solidFill>
                  <a:srgbClr val="00B0F0"/>
                </a:solidFill>
              </a:rPr>
              <a:t>Team Leaders</a:t>
            </a:r>
            <a:r>
              <a:rPr lang="en-US" dirty="0">
                <a:solidFill>
                  <a:srgbClr val="00B0F0"/>
                </a:solidFill>
              </a:rPr>
              <a:t>, </a:t>
            </a:r>
            <a:r>
              <a:rPr lang="en-US" dirty="0"/>
              <a:t>and one student will be selected to represent the group and communicate on their behalf.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4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A247-BFFE-BC48-3A14-EE3B5412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&amp; Evaluations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4A218-5AF8-D9CE-BE99-BD2BE4F0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Trainee Feedback Survey</a:t>
            </a:r>
            <a:r>
              <a:rPr lang="en-US" dirty="0"/>
              <a:t> conducted after every Session.</a:t>
            </a:r>
          </a:p>
          <a:p>
            <a:r>
              <a:rPr lang="en-US" b="1" dirty="0"/>
              <a:t>Weekly Evaluation</a:t>
            </a:r>
            <a:r>
              <a:rPr lang="en-US" dirty="0"/>
              <a:t> by the Skills Dynamix through a formal weekly survey.</a:t>
            </a:r>
          </a:p>
          <a:p>
            <a:r>
              <a:rPr lang="en-US" b="1" dirty="0"/>
              <a:t>Weekly Evaluation</a:t>
            </a:r>
            <a:r>
              <a:rPr lang="en-US" dirty="0"/>
              <a:t> between the </a:t>
            </a:r>
            <a:r>
              <a:rPr lang="en-US" b="1" dirty="0"/>
              <a:t>Team Leader and the Us</a:t>
            </a:r>
            <a:r>
              <a:rPr lang="en-US" dirty="0"/>
              <a:t>.</a:t>
            </a:r>
          </a:p>
          <a:p>
            <a:r>
              <a:rPr lang="en-US" b="1" dirty="0"/>
              <a:t>Weekly Evaluation</a:t>
            </a:r>
            <a:r>
              <a:rPr lang="en-US" dirty="0"/>
              <a:t> between the </a:t>
            </a:r>
            <a:r>
              <a:rPr lang="en-US" b="1" dirty="0"/>
              <a:t>Team Leader and the MCIT</a:t>
            </a:r>
            <a:r>
              <a:rPr lang="en-US" dirty="0"/>
              <a:t>.</a:t>
            </a:r>
          </a:p>
          <a:p>
            <a:r>
              <a:rPr lang="en-US" b="1" dirty="0"/>
              <a:t>Midterm Exam Evaluation</a:t>
            </a:r>
            <a:r>
              <a:rPr lang="en-US" dirty="0"/>
              <a:t> (an exam in Week 7 covering the first 10 Sessions).</a:t>
            </a:r>
          </a:p>
          <a:p>
            <a:r>
              <a:rPr lang="en-US" b="1" dirty="0"/>
              <a:t>Second Term Exam Evaluation</a:t>
            </a:r>
            <a:r>
              <a:rPr lang="en-US" dirty="0"/>
              <a:t> (an exam in Week 14 covering all previously delivered Sessions).</a:t>
            </a:r>
          </a:p>
          <a:p>
            <a:r>
              <a:rPr lang="en-US" b="1" dirty="0"/>
              <a:t>Final Exam Evaluation</a:t>
            </a:r>
            <a:r>
              <a:rPr lang="en-US" dirty="0"/>
              <a:t> (an exam in Week 22 or later covering all previously delivered Sessions).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4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Materials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🗂 Presentations provided by MCIT DEPI Track Head</a:t>
            </a:r>
          </a:p>
          <a:p>
            <a:r>
              <a:rPr dirty="0"/>
              <a:t>📄 Must be converted to PDF and uploaded to LMS</a:t>
            </a:r>
            <a:r>
              <a:rPr lang="en-US" dirty="0"/>
              <a:t> </a:t>
            </a:r>
            <a:r>
              <a:rPr lang="en-US" dirty="0">
                <a:highlight>
                  <a:srgbClr val="00FFFF"/>
                </a:highlight>
              </a:rPr>
              <a:t>After Each Session</a:t>
            </a:r>
            <a:endParaRPr dirty="0">
              <a:highlight>
                <a:srgbClr val="00FFFF"/>
              </a:highlight>
            </a:endParaRPr>
          </a:p>
          <a:p>
            <a:r>
              <a:rPr dirty="0"/>
              <a:t>💻 LMS: For tasks, quizzes, and evaluations</a:t>
            </a:r>
          </a:p>
          <a:p>
            <a:r>
              <a:rPr dirty="0"/>
              <a:t>🔑 Students and Trainers have assigned LMS &amp; Teams credentials</a:t>
            </a:r>
            <a:endParaRPr lang="en-US" dirty="0"/>
          </a:p>
          <a:p>
            <a:r>
              <a:rPr lang="en-US" dirty="0"/>
              <a:t>WAVES LMS for DEPI Exams &amp; Evaluations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Timeline: Exams and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📢 Project Announcement: Week 5</a:t>
            </a:r>
          </a:p>
          <a:p>
            <a:r>
              <a:rPr dirty="0"/>
              <a:t>👥 Group Formation: Week 8</a:t>
            </a:r>
            <a:r>
              <a:rPr lang="en-US" dirty="0"/>
              <a:t> (4 – 6 Each Team)</a:t>
            </a:r>
            <a:endParaRPr dirty="0"/>
          </a:p>
          <a:p>
            <a:r>
              <a:rPr dirty="0"/>
              <a:t>🧪 DEPI Exams:</a:t>
            </a:r>
          </a:p>
          <a:p>
            <a:r>
              <a:rPr dirty="0"/>
              <a:t>   - Week 7 (Covers First 10 Sessions)</a:t>
            </a:r>
          </a:p>
          <a:p>
            <a:r>
              <a:rPr dirty="0"/>
              <a:t>   - Week 14 (Covers First 20 Sessions)</a:t>
            </a:r>
          </a:p>
          <a:p>
            <a:r>
              <a:rPr dirty="0"/>
              <a:t>   - Final Exam: Covers All Sessions</a:t>
            </a:r>
          </a:p>
          <a:p>
            <a:r>
              <a:rPr dirty="0"/>
              <a:t>🛠 Project Prototype: Week 18</a:t>
            </a:r>
          </a:p>
          <a:p>
            <a:r>
              <a:rPr dirty="0"/>
              <a:t>🗣 Final Project Discussion: Week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Track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🟣 Technical Sessions: Weekly</a:t>
            </a:r>
          </a:p>
          <a:p>
            <a:r>
              <a:t>🔵 Soft Skills: Early and Mid-Track</a:t>
            </a:r>
          </a:p>
          <a:p>
            <a:r>
              <a:t>🟡 Freelancing + Skills: Early to Mid Weeks</a:t>
            </a:r>
          </a:p>
          <a:p>
            <a:r>
              <a:t>🟠 English for Freelancers: Late Phase</a:t>
            </a:r>
          </a:p>
          <a:p>
            <a:r>
              <a:t>🟢 Coaching: Final Weeks to Support Project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8F71-71FC-FF81-20D2-3DDBF766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Plan –Even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F4FF6F-03AB-8049-2B2E-050C12A9E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48495"/>
              </p:ext>
            </p:extLst>
          </p:nvPr>
        </p:nvGraphicFramePr>
        <p:xfrm>
          <a:off x="277793" y="1134319"/>
          <a:ext cx="8542118" cy="5301217"/>
        </p:xfrm>
        <a:graphic>
          <a:graphicData uri="http://schemas.openxmlformats.org/drawingml/2006/table">
            <a:tbl>
              <a:tblPr/>
              <a:tblGrid>
                <a:gridCol w="732280">
                  <a:extLst>
                    <a:ext uri="{9D8B030D-6E8A-4147-A177-3AD203B41FA5}">
                      <a16:colId xmlns:a16="http://schemas.microsoft.com/office/drawing/2014/main" val="3942019150"/>
                    </a:ext>
                  </a:extLst>
                </a:gridCol>
                <a:gridCol w="898080">
                  <a:extLst>
                    <a:ext uri="{9D8B030D-6E8A-4147-A177-3AD203B41FA5}">
                      <a16:colId xmlns:a16="http://schemas.microsoft.com/office/drawing/2014/main" val="969898782"/>
                    </a:ext>
                  </a:extLst>
                </a:gridCol>
                <a:gridCol w="898080">
                  <a:extLst>
                    <a:ext uri="{9D8B030D-6E8A-4147-A177-3AD203B41FA5}">
                      <a16:colId xmlns:a16="http://schemas.microsoft.com/office/drawing/2014/main" val="2817356281"/>
                    </a:ext>
                  </a:extLst>
                </a:gridCol>
                <a:gridCol w="898080">
                  <a:extLst>
                    <a:ext uri="{9D8B030D-6E8A-4147-A177-3AD203B41FA5}">
                      <a16:colId xmlns:a16="http://schemas.microsoft.com/office/drawing/2014/main" val="1560780146"/>
                    </a:ext>
                  </a:extLst>
                </a:gridCol>
                <a:gridCol w="1271127">
                  <a:extLst>
                    <a:ext uri="{9D8B030D-6E8A-4147-A177-3AD203B41FA5}">
                      <a16:colId xmlns:a16="http://schemas.microsoft.com/office/drawing/2014/main" val="924516935"/>
                    </a:ext>
                  </a:extLst>
                </a:gridCol>
                <a:gridCol w="3844471">
                  <a:extLst>
                    <a:ext uri="{9D8B030D-6E8A-4147-A177-3AD203B41FA5}">
                      <a16:colId xmlns:a16="http://schemas.microsoft.com/office/drawing/2014/main" val="2304020755"/>
                    </a:ext>
                  </a:extLst>
                </a:gridCol>
              </a:tblGrid>
              <a:tr h="409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Week Number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Technical Session 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Technical Session 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Non_Tech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Non Tech Type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Actions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509969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84541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748360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734021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907726"/>
                  </a:ext>
                </a:extLst>
              </a:tr>
              <a:tr h="1953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Announcment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778790"/>
                  </a:ext>
                </a:extLst>
              </a:tr>
              <a:tr h="3720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 Physical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ONLINE  Technical Session + 1 Physical Skills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695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First Term Exam (Cover First 10 Sessions)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25355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Group Formation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490287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646412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14965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307675"/>
                  </a:ext>
                </a:extLst>
              </a:tr>
              <a:tr h="3720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Physical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ONLINE  Technical Session + 1 Physical Skills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94402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547295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Second Term Exam (Cover First 20 Sessions)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083679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725705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76388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648401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ProtoType &amp; Documentation + Uploaded to GITHUB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3857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92012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03283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20569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091998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666894"/>
                  </a:ext>
                </a:extLst>
              </a:tr>
              <a:tr h="2325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Project Discussion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06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043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8CF8-F06F-5503-6CD2-13AD6642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D229-FEDC-1411-58FF-5BC6D9BD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Plan –Odd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6EC4AF-CE7F-C6A7-F5B0-4241BA380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2340"/>
              </p:ext>
            </p:extLst>
          </p:nvPr>
        </p:nvGraphicFramePr>
        <p:xfrm>
          <a:off x="300943" y="1122744"/>
          <a:ext cx="8565264" cy="5301220"/>
        </p:xfrm>
        <a:graphic>
          <a:graphicData uri="http://schemas.openxmlformats.org/drawingml/2006/table">
            <a:tbl>
              <a:tblPr/>
              <a:tblGrid>
                <a:gridCol w="734265">
                  <a:extLst>
                    <a:ext uri="{9D8B030D-6E8A-4147-A177-3AD203B41FA5}">
                      <a16:colId xmlns:a16="http://schemas.microsoft.com/office/drawing/2014/main" val="4288896052"/>
                    </a:ext>
                  </a:extLst>
                </a:gridCol>
                <a:gridCol w="900513">
                  <a:extLst>
                    <a:ext uri="{9D8B030D-6E8A-4147-A177-3AD203B41FA5}">
                      <a16:colId xmlns:a16="http://schemas.microsoft.com/office/drawing/2014/main" val="2695681364"/>
                    </a:ext>
                  </a:extLst>
                </a:gridCol>
                <a:gridCol w="900513">
                  <a:extLst>
                    <a:ext uri="{9D8B030D-6E8A-4147-A177-3AD203B41FA5}">
                      <a16:colId xmlns:a16="http://schemas.microsoft.com/office/drawing/2014/main" val="648917742"/>
                    </a:ext>
                  </a:extLst>
                </a:gridCol>
                <a:gridCol w="900513">
                  <a:extLst>
                    <a:ext uri="{9D8B030D-6E8A-4147-A177-3AD203B41FA5}">
                      <a16:colId xmlns:a16="http://schemas.microsoft.com/office/drawing/2014/main" val="1702939491"/>
                    </a:ext>
                  </a:extLst>
                </a:gridCol>
                <a:gridCol w="1274572">
                  <a:extLst>
                    <a:ext uri="{9D8B030D-6E8A-4147-A177-3AD203B41FA5}">
                      <a16:colId xmlns:a16="http://schemas.microsoft.com/office/drawing/2014/main" val="321588564"/>
                    </a:ext>
                  </a:extLst>
                </a:gridCol>
                <a:gridCol w="3854888">
                  <a:extLst>
                    <a:ext uri="{9D8B030D-6E8A-4147-A177-3AD203B41FA5}">
                      <a16:colId xmlns:a16="http://schemas.microsoft.com/office/drawing/2014/main" val="3541251245"/>
                    </a:ext>
                  </a:extLst>
                </a:gridCol>
              </a:tblGrid>
              <a:tr h="4092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Week Number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Technical Session 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Technical Session 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Non_Tech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Non Tech Type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Actions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105711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718683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4453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249939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54925"/>
                  </a:ext>
                </a:extLst>
              </a:tr>
              <a:tr h="381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 Physical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Announcment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62286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Soft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ONLINE  Technical Session + 1 Physical Skills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16663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First Term Exam (Cover First 10 Sessions)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950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Group Formation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101717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3091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069656"/>
                  </a:ext>
                </a:extLst>
              </a:tr>
              <a:tr h="3720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Physical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141540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Lancing Skills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ONLINE  Technical Session + 1 Physical Skills Session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36800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8879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Second Term Exam (Cover First 20 Sessions)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59274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73984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08268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3315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 ProtoType &amp; Documentation + Uploaded to GITHUB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185429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090921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677973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658075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765656"/>
                  </a:ext>
                </a:extLst>
              </a:tr>
              <a:tr h="186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English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Coaching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079160"/>
                  </a:ext>
                </a:extLst>
              </a:tr>
              <a:tr h="2325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Project Discussion</a:t>
                      </a:r>
                    </a:p>
                  </a:txBody>
                  <a:tcPr marL="7940" marR="7940" marT="79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7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873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DA06-D0AB-1C21-D8D9-1B03F83E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7317"/>
            <a:ext cx="8229600" cy="755509"/>
          </a:xfrm>
        </p:spPr>
        <p:txBody>
          <a:bodyPr>
            <a:normAutofit fontScale="90000"/>
          </a:bodyPr>
          <a:lstStyle/>
          <a:p>
            <a:r>
              <a:rPr lang="en-US" dirty="0"/>
              <a:t>Schedule Paused 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2AB09C-9699-151A-30B2-0FF4CED60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826770"/>
              </p:ext>
            </p:extLst>
          </p:nvPr>
        </p:nvGraphicFramePr>
        <p:xfrm>
          <a:off x="457199" y="902826"/>
          <a:ext cx="8339559" cy="5807849"/>
        </p:xfrm>
        <a:graphic>
          <a:graphicData uri="http://schemas.openxmlformats.org/drawingml/2006/table">
            <a:tbl>
              <a:tblPr/>
              <a:tblGrid>
                <a:gridCol w="538037">
                  <a:extLst>
                    <a:ext uri="{9D8B030D-6E8A-4147-A177-3AD203B41FA5}">
                      <a16:colId xmlns:a16="http://schemas.microsoft.com/office/drawing/2014/main" val="1136027754"/>
                    </a:ext>
                  </a:extLst>
                </a:gridCol>
                <a:gridCol w="992003">
                  <a:extLst>
                    <a:ext uri="{9D8B030D-6E8A-4147-A177-3AD203B41FA5}">
                      <a16:colId xmlns:a16="http://schemas.microsoft.com/office/drawing/2014/main" val="1905910236"/>
                    </a:ext>
                  </a:extLst>
                </a:gridCol>
                <a:gridCol w="1160139">
                  <a:extLst>
                    <a:ext uri="{9D8B030D-6E8A-4147-A177-3AD203B41FA5}">
                      <a16:colId xmlns:a16="http://schemas.microsoft.com/office/drawing/2014/main" val="617050663"/>
                    </a:ext>
                  </a:extLst>
                </a:gridCol>
                <a:gridCol w="538037">
                  <a:extLst>
                    <a:ext uri="{9D8B030D-6E8A-4147-A177-3AD203B41FA5}">
                      <a16:colId xmlns:a16="http://schemas.microsoft.com/office/drawing/2014/main" val="1891133498"/>
                    </a:ext>
                  </a:extLst>
                </a:gridCol>
                <a:gridCol w="538037">
                  <a:extLst>
                    <a:ext uri="{9D8B030D-6E8A-4147-A177-3AD203B41FA5}">
                      <a16:colId xmlns:a16="http://schemas.microsoft.com/office/drawing/2014/main" val="2260836629"/>
                    </a:ext>
                  </a:extLst>
                </a:gridCol>
                <a:gridCol w="538037">
                  <a:extLst>
                    <a:ext uri="{9D8B030D-6E8A-4147-A177-3AD203B41FA5}">
                      <a16:colId xmlns:a16="http://schemas.microsoft.com/office/drawing/2014/main" val="535988843"/>
                    </a:ext>
                  </a:extLst>
                </a:gridCol>
                <a:gridCol w="992003">
                  <a:extLst>
                    <a:ext uri="{9D8B030D-6E8A-4147-A177-3AD203B41FA5}">
                      <a16:colId xmlns:a16="http://schemas.microsoft.com/office/drawing/2014/main" val="2064912879"/>
                    </a:ext>
                  </a:extLst>
                </a:gridCol>
                <a:gridCol w="1160139">
                  <a:extLst>
                    <a:ext uri="{9D8B030D-6E8A-4147-A177-3AD203B41FA5}">
                      <a16:colId xmlns:a16="http://schemas.microsoft.com/office/drawing/2014/main" val="3779068584"/>
                    </a:ext>
                  </a:extLst>
                </a:gridCol>
                <a:gridCol w="1345090">
                  <a:extLst>
                    <a:ext uri="{9D8B030D-6E8A-4147-A177-3AD203B41FA5}">
                      <a16:colId xmlns:a16="http://schemas.microsoft.com/office/drawing/2014/main" val="1761865801"/>
                    </a:ext>
                  </a:extLst>
                </a:gridCol>
                <a:gridCol w="538037">
                  <a:extLst>
                    <a:ext uri="{9D8B030D-6E8A-4147-A177-3AD203B41FA5}">
                      <a16:colId xmlns:a16="http://schemas.microsoft.com/office/drawing/2014/main" val="3607713226"/>
                    </a:ext>
                  </a:extLst>
                </a:gridCol>
              </a:tblGrid>
              <a:tr h="239994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Graduated</a:t>
                      </a:r>
                    </a:p>
                  </a:txBody>
                  <a:tcPr marL="7481" marR="7481" marT="74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Students</a:t>
                      </a:r>
                    </a:p>
                  </a:txBody>
                  <a:tcPr marL="7481" marR="7481" marT="74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511588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364316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No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From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Notes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 No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From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Notes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14718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28/11/2025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04/12/2025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28/11/2025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04/12/2025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81042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05/12/2025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11/12/2025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05/12/2025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11/12/2025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939474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12/12/2025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18/12/2025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12/12/2025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18/12/2025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933755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19/12/2025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25/12/2025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19/12/2025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25/12/2025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40170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26/12/2025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01/01/2026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Friday  26/12/2025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Thursday  22/01/2026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Weeks Term 1 Stoppage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Weeks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45164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02/01/2026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08/01/2026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23/01/2026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29/01/2026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062178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09/01/2026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15/01/2026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30/01/2026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05/02/2026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611986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16/01/2026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22/01/2026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06/02/2026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12/02/2026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250761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23/01/2026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29/01/2026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13/02/2026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19/02/2026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346583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30/01/2026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05/02/2026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20/02/2026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26/02/2026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173879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06/02/2026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12/02/2026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27/02/2026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05/03/2026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747789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13/02/2026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19/02/2026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06/03/2026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12/03/2026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0691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20/02/2026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26/02/2026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13/03/2026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19/03/2026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0397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27/02/2026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05/03/2026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Friday  20/03/2026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Thursday  26/03/2026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Eid Fiter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Week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94032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06/03/2026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12/03/2026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27/03/2026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02/04/2026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187815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13/03/2026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19/03/2026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03/04/2026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09/04/2026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125642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Friday  20/03/2026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Thursday  26/03/2026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Eid Fiter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10/04/2026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16/04/2026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05958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27/03/2026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02/04/2026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17/04/2026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23/04/2026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156543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03/04/2026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09/04/2026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24/04/2026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30/04/2026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158117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10/04/2026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16/04/2026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01/05/2026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07/05/2026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03530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17/04/2026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23/04/2026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08/05/2026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14/05/2026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855353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24/04/2026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30/04/2026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Friday  15/05/2026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Thursday  18/06/2026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Term 2 Stoppage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Weeks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607648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01/05/2026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07/05/2026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19/06/2026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25/06/2026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592746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08/05/2026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14/05/2026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26/06/2026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02/07/2026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063618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15/05/2026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21/05/2026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03/07/2026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09/07/2026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510194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10/07/2026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16/07/2026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457724"/>
                  </a:ext>
                </a:extLst>
              </a:tr>
              <a:tr h="19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  17/07/2026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  23/07/2026</a:t>
                      </a: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81" marR="7481" marT="748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28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84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2B10-4292-A812-413A-98280EDD1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Trainee Interaction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2A2C-ED42-20F0-C112-4DA909658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💬 Trainers can join the official WhatsApp group with trainees</a:t>
            </a:r>
          </a:p>
          <a:p>
            <a:r>
              <a:rPr lang="en-US" dirty="0"/>
              <a:t>🔗 Please provide your LinkedIn or any professional communication channel</a:t>
            </a:r>
          </a:p>
          <a:p>
            <a:r>
              <a:rPr lang="en-US" dirty="0"/>
              <a:t>🤝 Ensures professional and respectful engagement outside session hours</a:t>
            </a:r>
          </a:p>
          <a:p>
            <a:r>
              <a:rPr lang="en-US" dirty="0"/>
              <a:t>📣 Helps in announcements, reminders, and follow-ups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72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7CA9-409F-48B9-6E0C-47463575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Note on Trainees from Previous 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85A04-E0F3-507E-489F-BEF903316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may have </a:t>
            </a:r>
            <a:r>
              <a:rPr lang="en-US" b="1" dirty="0"/>
              <a:t>trainees from Round 1,2 Or 3</a:t>
            </a:r>
            <a:r>
              <a:rPr lang="en-US" dirty="0"/>
              <a:t> joining your group.</a:t>
            </a:r>
          </a:p>
          <a:p>
            <a:r>
              <a:rPr lang="en-US" dirty="0"/>
              <a:t>These trainees will </a:t>
            </a:r>
            <a:r>
              <a:rPr lang="en-US" b="1" dirty="0"/>
              <a:t>attend only the technical sessions</a:t>
            </a:r>
            <a:r>
              <a:rPr lang="en-US" dirty="0"/>
              <a:t>.</a:t>
            </a:r>
          </a:p>
          <a:p>
            <a:r>
              <a:rPr lang="en-US" dirty="0"/>
              <a:t>They have </a:t>
            </a:r>
            <a:r>
              <a:rPr lang="en-US" b="1" dirty="0"/>
              <a:t>prior experience with DEPI track structure and expectations</a:t>
            </a:r>
            <a:r>
              <a:rPr lang="en-US" dirty="0"/>
              <a:t>.</a:t>
            </a:r>
          </a:p>
          <a:p>
            <a:r>
              <a:rPr lang="en-US" dirty="0"/>
              <a:t>✅ They can be a </a:t>
            </a:r>
            <a:r>
              <a:rPr lang="en-US" b="1" dirty="0"/>
              <a:t>valuable support</a:t>
            </a:r>
            <a:r>
              <a:rPr lang="en-US" dirty="0"/>
              <a:t> in guiding new students, especially in:</a:t>
            </a:r>
          </a:p>
          <a:p>
            <a:pPr lvl="1"/>
            <a:r>
              <a:rPr lang="en-US" dirty="0"/>
              <a:t>Explaining session flow</a:t>
            </a:r>
          </a:p>
          <a:p>
            <a:pPr lvl="1"/>
            <a:r>
              <a:rPr lang="en-US" dirty="0"/>
              <a:t>Helping with platform usage (LMS, Teams)</a:t>
            </a:r>
          </a:p>
          <a:p>
            <a:pPr lvl="1"/>
            <a:r>
              <a:rPr lang="en-US" dirty="0"/>
              <a:t>Sharing tips on assignments and quizzes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64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💬 Share any cases or suggestions freely</a:t>
            </a:r>
          </a:p>
          <a:p>
            <a:r>
              <a:t>📧 DEPI team is available for assistance</a:t>
            </a:r>
          </a:p>
          <a:p>
            <a:r>
              <a:t>🙋 Any Questions? We're here to support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C1ABEF9FA9514AB04CE5A174F93AA3" ma:contentTypeVersion="11" ma:contentTypeDescription="Create a new document." ma:contentTypeScope="" ma:versionID="15cd9e5a5372399dd4fe6e759ad2f48f">
  <xsd:schema xmlns:xsd="http://www.w3.org/2001/XMLSchema" xmlns:xs="http://www.w3.org/2001/XMLSchema" xmlns:p="http://schemas.microsoft.com/office/2006/metadata/properties" xmlns:ns2="18a2670f-7d99-4227-9a6f-d317fa1bff74" xmlns:ns3="ea2a692a-8a5c-4ac9-abcb-8ec6cd629489" targetNamespace="http://schemas.microsoft.com/office/2006/metadata/properties" ma:root="true" ma:fieldsID="d94b94444554bb79f1e88182e39ca33c" ns2:_="" ns3:_="">
    <xsd:import namespace="18a2670f-7d99-4227-9a6f-d317fa1bff74"/>
    <xsd:import namespace="ea2a692a-8a5c-4ac9-abcb-8ec6cd6294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a2670f-7d99-4227-9a6f-d317fa1bff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b3e194f-0e8c-4526-a92f-53e42d4129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a692a-8a5c-4ac9-abcb-8ec6cd62948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bd0be8f-de49-449b-8da9-41d2926dd8a2}" ma:internalName="TaxCatchAll" ma:showField="CatchAllData" ma:web="ea2a692a-8a5c-4ac9-abcb-8ec6cd6294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a2670f-7d99-4227-9a6f-d317fa1bff74">
      <Terms xmlns="http://schemas.microsoft.com/office/infopath/2007/PartnerControls"/>
    </lcf76f155ced4ddcb4097134ff3c332f>
    <TaxCatchAll xmlns="ea2a692a-8a5c-4ac9-abcb-8ec6cd629489" xsi:nil="true"/>
  </documentManagement>
</p:properties>
</file>

<file path=customXml/itemProps1.xml><?xml version="1.0" encoding="utf-8"?>
<ds:datastoreItem xmlns:ds="http://schemas.openxmlformats.org/officeDocument/2006/customXml" ds:itemID="{D209198C-425F-4869-BDBC-32EA1744422A}"/>
</file>

<file path=customXml/itemProps2.xml><?xml version="1.0" encoding="utf-8"?>
<ds:datastoreItem xmlns:ds="http://schemas.openxmlformats.org/officeDocument/2006/customXml" ds:itemID="{E363A745-CA47-47B8-8787-C4687C776CF3}"/>
</file>

<file path=customXml/itemProps3.xml><?xml version="1.0" encoding="utf-8"?>
<ds:datastoreItem xmlns:ds="http://schemas.openxmlformats.org/officeDocument/2006/customXml" ds:itemID="{DB73A701-2321-4170-815E-B1DDB6147B36}"/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1383</Words>
  <Application>Microsoft Office PowerPoint</Application>
  <PresentationFormat>On-screen Show (4:3)</PresentationFormat>
  <Paragraphs>537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Narrow</vt:lpstr>
      <vt:lpstr>Arial</vt:lpstr>
      <vt:lpstr>Calibri</vt:lpstr>
      <vt:lpstr>Office Theme</vt:lpstr>
      <vt:lpstr>DEPI R4 Trainers Meeting</vt:lpstr>
      <vt:lpstr>DEPI Track Overview</vt:lpstr>
      <vt:lpstr>Session Details</vt:lpstr>
      <vt:lpstr>Session Standards and Requirements</vt:lpstr>
      <vt:lpstr>Feedback &amp; Evaluations</vt:lpstr>
      <vt:lpstr>Materials and Tools</vt:lpstr>
      <vt:lpstr>Timeline: Exams and Projects</vt:lpstr>
      <vt:lpstr>Weekly Track Schedule</vt:lpstr>
      <vt:lpstr>Schedule Plan –Even </vt:lpstr>
      <vt:lpstr>Schedule Plan –Odd </vt:lpstr>
      <vt:lpstr>Schedule Paused ON</vt:lpstr>
      <vt:lpstr>Trainee Interaction </vt:lpstr>
      <vt:lpstr>Note on Trainees from Previous Rounds</vt:lpstr>
      <vt:lpstr>Support &amp; Feedback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abdullah</cp:lastModifiedBy>
  <cp:revision>21</cp:revision>
  <dcterms:created xsi:type="dcterms:W3CDTF">2013-01-27T09:14:16Z</dcterms:created>
  <dcterms:modified xsi:type="dcterms:W3CDTF">2025-11-26T20:52:08Z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0x010100BAC1ABEF9FA9514AB04CE5A174F93AA3</vt:lpwstr>
  </property>
</Properties>
</file>